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ướng dẫn shipper" id="{0369f873-d5c7-fba0-5fcc-487d14aed931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 giao đúng hạn</c:v>
                </c:pt>
              </c:strCache>
            </c:strRef>
          </c:tx>
          <c:spPr>
            <a:solidFill>
              <a:srgbClr val="0F2A5C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2A5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2A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2A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2A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6B0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Nội thành</c:v>
                  </c:pt>
                  <c:pt idx="1">
                    <c:v>Ngoại thành</c:v>
                  </c:pt>
                  <c:pt idx="2">
                    <c:v>Liên tỉnh gần</c:v>
                  </c:pt>
                  <c:pt idx="3">
                    <c:v>Liên tỉnh xa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0.959</c:v>
                </c:pt>
                <c:pt idx="1">
                  <c:v>0.972</c:v>
                </c:pt>
                <c:pt idx="2">
                  <c:v>0.927</c:v>
                </c:pt>
                <c:pt idx="3">
                  <c:v>0.691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0F2A5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2A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C9D6EA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2A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thiệu: bài trình bày cách FastMove tự động hóa tra giá cước và hướng dẫn shipper nhận đơn.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hậu quả chính của việc tra giá cước thủ công.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1: mapping 4 tham số VLOOKUP vào mô hình nhân viên kho tra hồ sơ.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2: giải pháp công nghệ cho FastMove, công thức nằm ở cột Giá cước của sheet VanDon.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Số liệu lấy từ sheet KPI của file Excel (dữ liệu mẫu 500 đơn).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Quy trình nhận đơn mang tính minh họa cho bài tập.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91840"/>
            <a:ext cx="76809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8138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FastMove  |  Giao nhanh - Tin cậy - Mọi lúc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hữ"/>
          <p:cNvSpPr txBox="1"/>
          <p:nvPr/>
        </p:nvSpPr>
        <p:spPr>
          <a:xfrm>
            <a:off x="640080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</a:t>
            </a:r>
            <a:pPr indent="0" marL="0">
              <a:buNone/>
            </a:pPr>
            <a:r>
              <a:rPr lang="en-US" sz="36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</a:t>
            </a:r>
            <a:endParaRPr lang="en-US" sz="3600" dirty="0"/>
          </a:p>
        </p:txBody>
      </p:sp>
      <p:sp>
        <p:nvSpPr>
          <p:cNvPr id="3" name="Khẩu hiệu"/>
          <p:cNvSpPr txBox="1"/>
          <p:nvPr/>
        </p:nvSpPr>
        <p:spPr>
          <a:xfrm>
            <a:off x="64008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nhanh - Tin cậy - Mọi lúc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7373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Nhận đơn đúng 4 bước, giá cước hiện sẵn không cần tra tay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3291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 shipper nhận đơn FastMove</a:t>
            </a:r>
            <a:endParaRPr lang="en-US" sz="2000" dirty="0"/>
          </a:p>
        </p:txBody>
      </p:sp>
      <p:sp>
        <p:nvSpPr>
          <p:cNvPr id="6" name="Vòng cam"/>
          <p:cNvSpPr/>
          <p:nvPr/>
        </p:nvSpPr>
        <p:spPr>
          <a:xfrm>
            <a:off x="7315200" y="41148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 xe tải" descr="Biểu tượng xe tả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731520"/>
            <a:ext cx="548640" cy="457200"/>
          </a:xfrm>
          <a:prstGeom prst="rect">
            <a:avLst/>
          </a:prstGeom>
        </p:spPr>
      </p:pic>
      <p:sp>
        <p:nvSpPr>
          <p:cNvPr id="8" name="Chân tiêu đề"/>
          <p:cNvSpPr txBox="1"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3 – Chuẩn hóa quy trình giao vận và tra cứu giá cước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 giá cước thủ công làm FastMove mất 16 tiếng mỗi ngày</a:t>
            </a:r>
            <a:endParaRPr lang="en-US" sz="3000" dirty="0"/>
          </a:p>
        </p:txBody>
      </p:sp>
      <p:sp>
        <p:nvSpPr>
          <p:cNvPr id="3" name="Thẻ số lớn"/>
          <p:cNvSpPr/>
          <p:nvPr/>
        </p:nvSpPr>
        <p:spPr>
          <a:xfrm>
            <a:off x="502920" y="1463040"/>
            <a:ext cx="3108960" cy="2926080"/>
          </a:xfrm>
          <a:prstGeom prst="roundRect">
            <a:avLst>
              <a:gd name="adj" fmla="val 4688"/>
            </a:avLst>
          </a:prstGeom>
          <a:solidFill>
            <a:schemeClr val="tx1"/>
          </a:solidFill>
          <a:ln/>
        </p:spPr>
      </p:sp>
      <p:sp>
        <p:nvSpPr>
          <p:cNvPr id="4" name="Số 16h"/>
          <p:cNvSpPr txBox="1"/>
          <p:nvPr/>
        </p:nvSpPr>
        <p:spPr>
          <a:xfrm>
            <a:off x="502920" y="17373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16h</a:t>
            </a:r>
            <a:endParaRPr lang="en-US" sz="7200" dirty="0"/>
          </a:p>
        </p:txBody>
      </p:sp>
      <p:sp>
        <p:nvSpPr>
          <p:cNvPr id="5" name="Nhãn 16h"/>
          <p:cNvSpPr txBox="1"/>
          <p:nvPr/>
        </p:nvSpPr>
        <p:spPr>
          <a:xfrm>
            <a:off x="731520" y="3154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ngày dành cho tra giá cước bằng tay</a:t>
            </a:r>
            <a:endParaRPr lang="en-US" sz="1600" dirty="0"/>
          </a:p>
        </p:txBody>
      </p:sp>
      <p:sp>
        <p:nvSpPr>
          <p:cNvPr id="6" name="Vòng vấn đề 1"/>
          <p:cNvSpPr/>
          <p:nvPr/>
        </p:nvSpPr>
        <p:spPr>
          <a:xfrm>
            <a:off x="406908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 vấn đề 1" descr="Tra từng đơn bằng tay, rất chậ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1709928"/>
            <a:ext cx="329184" cy="329184"/>
          </a:xfrm>
          <a:prstGeom prst="rect">
            <a:avLst/>
          </a:prstGeom>
        </p:spPr>
      </p:pic>
      <p:sp>
        <p:nvSpPr>
          <p:cNvPr id="8" name="Vấn đề 1"/>
          <p:cNvSpPr txBox="1"/>
          <p:nvPr/>
        </p:nvSpPr>
        <p:spPr>
          <a:xfrm>
            <a:off x="4846320" y="146304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từng đơn bằng tay, rất chậm</a:t>
            </a:r>
            <a:endParaRPr lang="en-US" sz="2000" dirty="0"/>
          </a:p>
        </p:txBody>
      </p:sp>
      <p:sp>
        <p:nvSpPr>
          <p:cNvPr id="9" name="Vòng vấn đề 2"/>
          <p:cNvSpPr/>
          <p:nvPr/>
        </p:nvSpPr>
        <p:spPr>
          <a:xfrm>
            <a:off x="4069080" y="2560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vấn đề 2" descr="Dễ nhìn nhầm, tính sai giá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2715768"/>
            <a:ext cx="329184" cy="329184"/>
          </a:xfrm>
          <a:prstGeom prst="rect">
            <a:avLst/>
          </a:prstGeom>
        </p:spPr>
      </p:pic>
      <p:sp>
        <p:nvSpPr>
          <p:cNvPr id="11" name="Vấn đề 2"/>
          <p:cNvSpPr txBox="1"/>
          <p:nvPr/>
        </p:nvSpPr>
        <p:spPr>
          <a:xfrm>
            <a:off x="4846320" y="24688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nhìn nhầm, tính sai giá</a:t>
            </a:r>
            <a:endParaRPr lang="en-US" sz="2000" dirty="0"/>
          </a:p>
        </p:txBody>
      </p:sp>
      <p:sp>
        <p:nvSpPr>
          <p:cNvPr id="12" name="Vòng vấn đề 3"/>
          <p:cNvSpPr/>
          <p:nvPr/>
        </p:nvSpPr>
        <p:spPr>
          <a:xfrm>
            <a:off x="4069080" y="3566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vấn đề 3" descr="Shipper phải chờ báo giá mới nhận đơ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3721608"/>
            <a:ext cx="329184" cy="329184"/>
          </a:xfrm>
          <a:prstGeom prst="rect">
            <a:avLst/>
          </a:prstGeom>
        </p:spPr>
      </p:pic>
      <p:sp>
        <p:nvSpPr>
          <p:cNvPr id="14" name="Vấn đề 3"/>
          <p:cNvSpPr txBox="1"/>
          <p:nvPr/>
        </p:nvSpPr>
        <p:spPr>
          <a:xfrm>
            <a:off x="4846320" y="34747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Shipper phải chờ báo giá mới nhận đơn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VLOOKUP giống nhân viên kho tra hồ sơ</a:t>
            </a:r>
            <a:endParaRPr lang="en-US" sz="3000" dirty="0"/>
          </a:p>
        </p:txBody>
      </p:sp>
      <p:sp>
        <p:nvSpPr>
          <p:cNvPr id="3" name="Thẻ tham số 1"/>
          <p:cNvSpPr/>
          <p:nvPr/>
        </p:nvSpPr>
        <p:spPr>
          <a:xfrm>
            <a:off x="502920" y="1417320"/>
            <a:ext cx="1920240" cy="30175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Vòng số 1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ố 1"/>
          <p:cNvSpPr txBox="1"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ên tham số 1"/>
          <p:cNvSpPr txBox="1"/>
          <p:nvPr/>
        </p:nvSpPr>
        <p:spPr>
          <a:xfrm>
            <a:off x="68580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lookup_value</a:t>
            </a:r>
            <a:endParaRPr lang="en-US" sz="1600" dirty="0"/>
          </a:p>
        </p:txBody>
      </p:sp>
      <p:sp>
        <p:nvSpPr>
          <p:cNvPr id="7" name="Vai trò 1"/>
          <p:cNvSpPr txBox="1"/>
          <p:nvPr/>
        </p:nvSpPr>
        <p:spPr>
          <a:xfrm>
            <a:off x="685800" y="26060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Tờ phiếu ghi mã gói cước trên tay</a:t>
            </a:r>
            <a:endParaRPr lang="en-US" sz="1400" dirty="0"/>
          </a:p>
        </p:txBody>
      </p:sp>
      <p:sp>
        <p:nvSpPr>
          <p:cNvPr id="8" name="Giá trị 1"/>
          <p:cNvSpPr txBox="1"/>
          <p:nvPr/>
        </p:nvSpPr>
        <p:spPr>
          <a:xfrm>
            <a:off x="612648" y="3611880"/>
            <a:ext cx="1700784" cy="59436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$D2</a:t>
            </a:r>
            <a:endParaRPr lang="en-US" sz="1200" dirty="0"/>
          </a:p>
        </p:txBody>
      </p:sp>
      <p:sp>
        <p:nvSpPr>
          <p:cNvPr id="9" name="Thẻ tham số 2"/>
          <p:cNvSpPr/>
          <p:nvPr/>
        </p:nvSpPr>
        <p:spPr>
          <a:xfrm>
            <a:off x="2606040" y="1417320"/>
            <a:ext cx="1920240" cy="30175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Vòng số 2"/>
          <p:cNvSpPr/>
          <p:nvPr/>
        </p:nvSpPr>
        <p:spPr>
          <a:xfrm>
            <a:off x="278892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ố 2"/>
          <p:cNvSpPr txBox="1"/>
          <p:nvPr/>
        </p:nvSpPr>
        <p:spPr>
          <a:xfrm>
            <a:off x="27889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ên tham số 2"/>
          <p:cNvSpPr txBox="1"/>
          <p:nvPr/>
        </p:nvSpPr>
        <p:spPr>
          <a:xfrm>
            <a:off x="278892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table_array</a:t>
            </a:r>
            <a:endParaRPr lang="en-US" sz="1600" dirty="0"/>
          </a:p>
        </p:txBody>
      </p:sp>
      <p:sp>
        <p:nvSpPr>
          <p:cNvPr id="13" name="Vai trò 2"/>
          <p:cNvSpPr txBox="1"/>
          <p:nvPr/>
        </p:nvSpPr>
        <p:spPr>
          <a:xfrm>
            <a:off x="2788920" y="26060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Tủ hồ sơ giá cước</a:t>
            </a:r>
            <a:endParaRPr lang="en-US" sz="1400" dirty="0"/>
          </a:p>
        </p:txBody>
      </p:sp>
      <p:sp>
        <p:nvSpPr>
          <p:cNvPr id="14" name="Giá trị 2"/>
          <p:cNvSpPr txBox="1"/>
          <p:nvPr/>
        </p:nvSpPr>
        <p:spPr>
          <a:xfrm>
            <a:off x="2715768" y="3611880"/>
            <a:ext cx="1700784" cy="59436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GiaCuoc!$A$2:$E$13</a:t>
            </a:r>
            <a:endParaRPr lang="en-US" sz="1200" dirty="0"/>
          </a:p>
        </p:txBody>
      </p:sp>
      <p:sp>
        <p:nvSpPr>
          <p:cNvPr id="15" name="Thẻ tham số 3"/>
          <p:cNvSpPr/>
          <p:nvPr/>
        </p:nvSpPr>
        <p:spPr>
          <a:xfrm>
            <a:off x="4709160" y="1417320"/>
            <a:ext cx="1920240" cy="30175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Vòng số 3"/>
          <p:cNvSpPr/>
          <p:nvPr/>
        </p:nvSpPr>
        <p:spPr>
          <a:xfrm>
            <a:off x="489204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ố 3"/>
          <p:cNvSpPr txBox="1"/>
          <p:nvPr/>
        </p:nvSpPr>
        <p:spPr>
          <a:xfrm>
            <a:off x="48920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ên tham số 3"/>
          <p:cNvSpPr txBox="1"/>
          <p:nvPr/>
        </p:nvSpPr>
        <p:spPr>
          <a:xfrm>
            <a:off x="489204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col_index_num</a:t>
            </a:r>
            <a:endParaRPr lang="en-US" sz="1600" dirty="0"/>
          </a:p>
        </p:txBody>
      </p:sp>
      <p:sp>
        <p:nvSpPr>
          <p:cNvPr id="19" name="Vai trò 3"/>
          <p:cNvSpPr txBox="1"/>
          <p:nvPr/>
        </p:nvSpPr>
        <p:spPr>
          <a:xfrm>
            <a:off x="4892040" y="26060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Ngăn cần đọc (cột thứ mấy)</a:t>
            </a:r>
            <a:endParaRPr lang="en-US" sz="1400" dirty="0"/>
          </a:p>
        </p:txBody>
      </p:sp>
      <p:sp>
        <p:nvSpPr>
          <p:cNvPr id="20" name="Giá trị 3"/>
          <p:cNvSpPr txBox="1"/>
          <p:nvPr/>
        </p:nvSpPr>
        <p:spPr>
          <a:xfrm>
            <a:off x="4818888" y="3611880"/>
            <a:ext cx="1700784" cy="59436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= Giá cước</a:t>
            </a:r>
            <a:endParaRPr lang="en-US" sz="1200" dirty="0"/>
          </a:p>
        </p:txBody>
      </p:sp>
      <p:sp>
        <p:nvSpPr>
          <p:cNvPr id="21" name="Thẻ tham số 4"/>
          <p:cNvSpPr/>
          <p:nvPr/>
        </p:nvSpPr>
        <p:spPr>
          <a:xfrm>
            <a:off x="6812280" y="1417320"/>
            <a:ext cx="1920240" cy="30175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2" name="Vòng số 4"/>
          <p:cNvSpPr/>
          <p:nvPr/>
        </p:nvSpPr>
        <p:spPr>
          <a:xfrm>
            <a:off x="699516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Số 4"/>
          <p:cNvSpPr txBox="1"/>
          <p:nvPr/>
        </p:nvSpPr>
        <p:spPr>
          <a:xfrm>
            <a:off x="69951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ên tham số 4"/>
          <p:cNvSpPr txBox="1"/>
          <p:nvPr/>
        </p:nvSpPr>
        <p:spPr>
          <a:xfrm>
            <a:off x="699516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range_lookup</a:t>
            </a:r>
            <a:endParaRPr lang="en-US" sz="1600" dirty="0"/>
          </a:p>
        </p:txBody>
      </p:sp>
      <p:sp>
        <p:nvSpPr>
          <p:cNvPr id="25" name="Vai trò 4"/>
          <p:cNvSpPr txBox="1"/>
          <p:nvPr/>
        </p:nvSpPr>
        <p:spPr>
          <a:xfrm>
            <a:off x="6995160" y="26060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lấy đúng mã, không đoán</a:t>
            </a:r>
            <a:endParaRPr lang="en-US" sz="1400" dirty="0"/>
          </a:p>
        </p:txBody>
      </p:sp>
      <p:sp>
        <p:nvSpPr>
          <p:cNvPr id="26" name="Giá trị 4"/>
          <p:cNvSpPr txBox="1"/>
          <p:nvPr/>
        </p:nvSpPr>
        <p:spPr>
          <a:xfrm>
            <a:off x="6922008" y="3611880"/>
            <a:ext cx="1700784" cy="59436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công thức VLOOKUP tra xong 500 đơn trong vài giây</a:t>
            </a:r>
            <a:endParaRPr lang="en-US" sz="3000" dirty="0"/>
          </a:p>
        </p:txBody>
      </p:sp>
      <p:sp>
        <p:nvSpPr>
          <p:cNvPr id="3" name="Công thức"/>
          <p:cNvSpPr/>
          <p:nvPr/>
        </p:nvSpPr>
        <p:spPr>
          <a:xfrm>
            <a:off x="502920" y="1417320"/>
            <a:ext cx="8138160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=VLOOKUP($D2, GiaCuoc!$A$2:$E$13, 4, FALSE)</a:t>
            </a:r>
            <a:endParaRPr lang="en-US" sz="2200" dirty="0"/>
          </a:p>
        </p:txBody>
      </p:sp>
      <p:sp>
        <p:nvSpPr>
          <p:cNvPr id="4" name="Vòng giải pháp 1"/>
          <p:cNvSpPr/>
          <p:nvPr/>
        </p:nvSpPr>
        <p:spPr>
          <a:xfrm>
            <a:off x="502920" y="2560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giải pháp 1" descr="Dấu $ khóa vùng bảng giá khi kéo xuống 500 dò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679192"/>
            <a:ext cx="219456" cy="219456"/>
          </a:xfrm>
          <a:prstGeom prst="rect">
            <a:avLst/>
          </a:prstGeom>
        </p:spPr>
      </p:pic>
      <p:sp>
        <p:nvSpPr>
          <p:cNvPr id="6" name="Giải pháp 1"/>
          <p:cNvSpPr txBox="1"/>
          <p:nvPr/>
        </p:nvSpPr>
        <p:spPr>
          <a:xfrm>
            <a:off x="1143000" y="2560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Dấu $ khóa vùng bảng giá khi kéo xuống 500 dòng</a:t>
            </a:r>
            <a:endParaRPr lang="en-US" sz="1800" dirty="0"/>
          </a:p>
        </p:txBody>
      </p:sp>
      <p:sp>
        <p:nvSpPr>
          <p:cNvPr id="7" name="Vòng giải pháp 2"/>
          <p:cNvSpPr/>
          <p:nvPr/>
        </p:nvSpPr>
        <p:spPr>
          <a:xfrm>
            <a:off x="50292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 giải pháp 2" descr="FALSE chỉ lấy đúng mã, không lấy giá gần giố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319272"/>
            <a:ext cx="219456" cy="219456"/>
          </a:xfrm>
          <a:prstGeom prst="rect">
            <a:avLst/>
          </a:prstGeom>
        </p:spPr>
      </p:pic>
      <p:sp>
        <p:nvSpPr>
          <p:cNvPr id="9" name="Giải pháp 2"/>
          <p:cNvSpPr txBox="1"/>
          <p:nvPr/>
        </p:nvSpPr>
        <p:spPr>
          <a:xfrm>
            <a:off x="1143000" y="3200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chỉ lấy đúng mã, không lấy giá gần giống</a:t>
            </a:r>
            <a:endParaRPr lang="en-US" sz="1800" dirty="0"/>
          </a:p>
        </p:txBody>
      </p:sp>
      <p:sp>
        <p:nvSpPr>
          <p:cNvPr id="10" name="Vòng giải pháp 3"/>
          <p:cNvSpPr/>
          <p:nvPr/>
        </p:nvSpPr>
        <p:spPr>
          <a:xfrm>
            <a:off x="502920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 giải pháp 3" descr="Đổi giá ở sheet GiaCuoc, cả 500 đơn tự cập nhậ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959352"/>
            <a:ext cx="219456" cy="219456"/>
          </a:xfrm>
          <a:prstGeom prst="rect">
            <a:avLst/>
          </a:prstGeom>
        </p:spPr>
      </p:pic>
      <p:sp>
        <p:nvSpPr>
          <p:cNvPr id="12" name="Giải pháp 3"/>
          <p:cNvSpPr txBox="1"/>
          <p:nvPr/>
        </p:nvSpPr>
        <p:spPr>
          <a:xfrm>
            <a:off x="1143000" y="3840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giá ở sheet GiaCuoc, cả 500 đơn tự cập nhật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Liên tỉnh xa chỉ giao đúng hạn 69.1%, thấp nhất trong 4 khu vực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37160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hẻ nổi bật"/>
          <p:cNvSpPr/>
          <p:nvPr/>
        </p:nvSpPr>
        <p:spPr>
          <a:xfrm>
            <a:off x="5897880" y="1463040"/>
            <a:ext cx="274320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5" name="Số nổi bật"/>
          <p:cNvSpPr txBox="1"/>
          <p:nvPr/>
        </p:nvSpPr>
        <p:spPr>
          <a:xfrm>
            <a:off x="5897880" y="1508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69.1%</a:t>
            </a:r>
            <a:endParaRPr lang="en-US" sz="4000" dirty="0"/>
          </a:p>
        </p:txBody>
      </p:sp>
      <p:sp>
        <p:nvSpPr>
          <p:cNvPr id="6" name="Nhãn nổi bật"/>
          <p:cNvSpPr txBox="1"/>
          <p:nvPr/>
        </p:nvSpPr>
        <p:spPr>
          <a:xfrm>
            <a:off x="598932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tỉnh xa (mục tiêu 90%)</a:t>
            </a:r>
            <a:endParaRPr lang="en-US" sz="1400" dirty="0"/>
          </a:p>
        </p:txBody>
      </p:sp>
      <p:sp>
        <p:nvSpPr>
          <p:cNvPr id="7" name="Nhận xét KPI"/>
          <p:cNvSpPr txBox="1"/>
          <p:nvPr/>
        </p:nvSpPr>
        <p:spPr>
          <a:xfrm>
            <a:off x="5897880" y="3017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khu vực còn lại đều đạt mục tiêu 90%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ưu tiên cải thiện tuyến liên tỉnh xa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Shipper nhận đơn chỉ cần 4 bước</a:t>
            </a:r>
            <a:endParaRPr lang="en-US" sz="3000" dirty="0"/>
          </a:p>
        </p:txBody>
      </p:sp>
      <p:sp>
        <p:nvSpPr>
          <p:cNvPr id="3" name="Hàng bước 1"/>
          <p:cNvSpPr/>
          <p:nvPr/>
        </p:nvSpPr>
        <p:spPr>
          <a:xfrm>
            <a:off x="502920" y="1371600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4" name="Vòng bước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ố bước 1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Bước 1"/>
          <p:cNvSpPr txBox="1"/>
          <p:nvPr/>
        </p:nvSpPr>
        <p:spPr>
          <a:xfrm>
            <a:off x="1280160" y="13716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app, xem đơn mới trong khu vực</a:t>
            </a:r>
            <a:endParaRPr lang="en-US" sz="1600" dirty="0"/>
          </a:p>
        </p:txBody>
      </p:sp>
      <p:sp>
        <p:nvSpPr>
          <p:cNvPr id="7" name="Hàng bước 2"/>
          <p:cNvSpPr/>
          <p:nvPr/>
        </p:nvSpPr>
        <p:spPr>
          <a:xfrm>
            <a:off x="502920" y="2148840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8" name="Vòng bước 2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ố bước 2"/>
          <p:cNvSpPr txBox="1"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Bước 2"/>
          <p:cNvSpPr txBox="1"/>
          <p:nvPr/>
        </p:nvSpPr>
        <p:spPr>
          <a:xfrm>
            <a:off x="1280160" y="21488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mã vận đơn và giá cước hiển thị</a:t>
            </a:r>
            <a:endParaRPr lang="en-US" sz="1600" dirty="0"/>
          </a:p>
        </p:txBody>
      </p:sp>
      <p:sp>
        <p:nvSpPr>
          <p:cNvPr id="11" name="Hàng bước 3"/>
          <p:cNvSpPr/>
          <p:nvPr/>
        </p:nvSpPr>
        <p:spPr>
          <a:xfrm>
            <a:off x="502920" y="2926080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2" name="Vòng bước 3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ố bước 3"/>
          <p:cNvSpPr txBox="1"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Bước 3"/>
          <p:cNvSpPr txBox="1"/>
          <p:nvPr/>
        </p:nvSpPr>
        <p:spPr>
          <a:xfrm>
            <a:off x="1280160" y="29260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Nhận đơn để giữ đơn</a:t>
            </a:r>
            <a:endParaRPr lang="en-US" sz="1600" dirty="0"/>
          </a:p>
        </p:txBody>
      </p:sp>
      <p:sp>
        <p:nvSpPr>
          <p:cNvPr id="15" name="Hàng bước 4"/>
          <p:cNvSpPr/>
          <p:nvPr/>
        </p:nvSpPr>
        <p:spPr>
          <a:xfrm>
            <a:off x="502920" y="3703320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6" name="Vòng bước 4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ố bước 4"/>
          <p:cNvSpPr txBox="1"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Bước 4"/>
          <p:cNvSpPr txBox="1"/>
          <p:nvPr/>
        </p:nvSpPr>
        <p:spPr>
          <a:xfrm>
            <a:off x="1280160" y="37033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hàng và chụp ảnh xác nhận</a:t>
            </a:r>
            <a:endParaRPr lang="en-US" sz="1600" dirty="0"/>
          </a:p>
        </p:txBody>
      </p:sp>
      <p:sp>
        <p:nvSpPr>
          <p:cNvPr id="19" name="Vòng điện thoại"/>
          <p:cNvSpPr/>
          <p:nvPr/>
        </p:nvSpPr>
        <p:spPr>
          <a:xfrm>
            <a:off x="6400800" y="1828800"/>
            <a:ext cx="2194560" cy="21945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Icon điện thoại" descr="Điện thoại của shipp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240280"/>
            <a:ext cx="822960" cy="1371600"/>
          </a:xfrm>
          <a:prstGeom prst="rect">
            <a:avLst/>
          </a:prstGeom>
        </p:spPr>
      </p:pic>
      <p:sp>
        <p:nvSpPr>
          <p:cNvPr id="21" name="Chú thích điện thoại"/>
          <p:cNvSpPr txBox="1"/>
          <p:nvPr/>
        </p:nvSpPr>
        <p:spPr>
          <a:xfrm>
            <a:off x="612648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cước tự hiện sẵn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stMove">
  <a:themeElements>
    <a:clrScheme name="FastMove">
      <a:dk1>
        <a:srgbClr val="0F2A5C"/>
      </a:dk1>
      <a:lt1>
        <a:srgbClr val="FFFFFF"/>
      </a:lt1>
      <a:dk2>
        <a:srgbClr val="1F4E9E"/>
      </a:dk2>
      <a:lt2>
        <a:srgbClr val="EAF1FB"/>
      </a:lt2>
      <a:accent1>
        <a:srgbClr val="F26B0F"/>
      </a:accent1>
      <a:accent2>
        <a:srgbClr val="1F4E9E"/>
      </a:accent2>
      <a:accent3>
        <a:srgbClr val="7FA6E0"/>
      </a:accent3>
      <a:accent4>
        <a:srgbClr val="FFB27A"/>
      </a:accent4>
      <a:accent5>
        <a:srgbClr val="C9D6EA"/>
      </a:accent5>
      <a:accent6>
        <a:srgbClr val="0F2A5C"/>
      </a:accent6>
      <a:hlink>
        <a:srgbClr val="1F4E9E"/>
      </a:hlink>
      <a:folHlink>
        <a:srgbClr val="7FA6E0"/>
      </a:folHlink>
    </a:clrScheme>
    <a:fontScheme name="FastMo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FastMove - Hướng dẫn shipper nhận đơn</dc:title>
  <dc:subject>PptxGenJS Presentation</dc:subject>
  <dc:creator>PptxGenJS</dc:creator>
  <cp:lastModifiedBy>PptxGenJS</cp:lastModifiedBy>
  <cp:revision>1</cp:revision>
  <dcterms:created xsi:type="dcterms:W3CDTF">2026-10-26T23:24:38Z</dcterms:created>
  <dcterms:modified xsi:type="dcterms:W3CDTF">2026-10-26T23:24:38Z</dcterms:modified>
</cp:coreProperties>
</file>